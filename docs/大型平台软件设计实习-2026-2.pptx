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4"/>
  </p:notesMasterIdLst>
  <p:sldIdLst>
    <p:sldId id="256" r:id="rId4"/>
    <p:sldId id="422" r:id="rId5"/>
    <p:sldId id="408" r:id="rId6"/>
    <p:sldId id="411" r:id="rId7"/>
    <p:sldId id="412" r:id="rId8"/>
    <p:sldId id="413" r:id="rId9"/>
    <p:sldId id="414" r:id="rId10"/>
    <p:sldId id="417" r:id="rId11"/>
    <p:sldId id="418" r:id="rId12"/>
    <p:sldId id="423" r:id="rId13"/>
    <p:sldId id="415" r:id="rId14"/>
    <p:sldId id="416" r:id="rId15"/>
    <p:sldId id="420" r:id="rId16"/>
    <p:sldId id="421" r:id="rId17"/>
    <p:sldId id="419" r:id="rId18"/>
    <p:sldId id="407" r:id="rId19"/>
    <p:sldId id="410" r:id="rId20"/>
    <p:sldId id="409" r:id="rId21"/>
    <p:sldId id="424" r:id="rId22"/>
    <p:sldId id="42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23E7A-1B43-4504-A4FB-ED840C402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FC269-FDFB-46F8-BA9B-DBEA5CB1B1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85" y="913130"/>
            <a:ext cx="6715230" cy="61763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85" y="913130"/>
            <a:ext cx="6715230" cy="61763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6B930-EA9F-40B0-ADDB-5CD0F694B5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B2E32-4FBC-438C-AC03-B42086BF88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20483" y="2009954"/>
            <a:ext cx="9144000" cy="132750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大型平台软件设计实习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7637" y="4261449"/>
            <a:ext cx="420969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00" dirty="0">
                <a:latin typeface="Times New Roman" panose="02020803070505020304" pitchFamily="18" charset="0"/>
                <a:ea typeface="楷体" panose="02010609060101010101" pitchFamily="49" charset="-122"/>
                <a:cs typeface="Times New Roman" panose="02020803070505020304" pitchFamily="18" charset="0"/>
              </a:rPr>
              <a:t>计算机学院 </a:t>
            </a:r>
            <a:endParaRPr lang="en-US" altLang="zh-CN" sz="2500" dirty="0">
              <a:latin typeface="Times New Roman" panose="02020803070505020304" pitchFamily="18" charset="0"/>
              <a:ea typeface="楷体" panose="02010609060101010101" pitchFamily="49" charset="-122"/>
              <a:cs typeface="Times New Roman" panose="02020803070505020304" pitchFamily="18" charset="0"/>
            </a:endParaRPr>
          </a:p>
          <a:p>
            <a:pPr algn="ctr"/>
            <a:endParaRPr lang="en-US" altLang="zh-CN" sz="2500" dirty="0">
              <a:latin typeface="Times New Roman" panose="02020803070505020304" pitchFamily="18" charset="0"/>
              <a:ea typeface="楷体" panose="02010609060101010101" pitchFamily="49" charset="-122"/>
              <a:cs typeface="Times New Roman" panose="02020803070505020304" pitchFamily="18" charset="0"/>
            </a:endParaRPr>
          </a:p>
          <a:p>
            <a:pPr algn="ctr"/>
            <a:r>
              <a:rPr lang="zh-CN" altLang="en-US" sz="2500" dirty="0">
                <a:latin typeface="Times New Roman" panose="02020803070505020304" pitchFamily="18" charset="0"/>
                <a:ea typeface="楷体" panose="02010609060101010101" pitchFamily="49" charset="-122"/>
                <a:cs typeface="Times New Roman" panose="02020803070505020304" pitchFamily="18" charset="0"/>
              </a:rPr>
              <a:t>姚鑫、邓磊、桂宁</a:t>
            </a:r>
            <a:endParaRPr lang="en-US" altLang="zh-CN" sz="2500" dirty="0">
              <a:latin typeface="Times New Roman" panose="02020803070505020304" pitchFamily="18" charset="0"/>
              <a:ea typeface="楷体" panose="02010609060101010101" pitchFamily="49" charset="-122"/>
              <a:cs typeface="Times New Roman" panose="020208030705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2" y="290218"/>
            <a:ext cx="3078816" cy="901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1545" y="290195"/>
            <a:ext cx="5878195" cy="736600"/>
          </a:xfrm>
        </p:spPr>
        <p:txBody>
          <a:bodyPr/>
          <a:p>
            <a:pPr>
              <a:defRPr sz="3600" b="1">
                <a:solidFill>
                  <a:srgbClr val="2F5597"/>
                </a:solidFill>
              </a:defRPr>
            </a:pPr>
            <a:r>
              <a:t>数据库</a:t>
            </a:r>
            <a:r>
              <a:rPr lang="zh-CN"/>
              <a:t>管理</a:t>
            </a:r>
            <a:r>
              <a:t>系统</a:t>
            </a:r>
            <a:r>
              <a:rPr lang="zh-CN"/>
              <a:t>设计与</a:t>
            </a:r>
            <a:r>
              <a:t>实现</a:t>
            </a:r>
          </a:p>
        </p:txBody>
      </p:sp>
      <p:sp>
        <p:nvSpPr>
          <p:cNvPr id="6" name="TextBox 2"/>
          <p:cNvSpPr txBox="1"/>
          <p:nvPr>
            <p:custDataLst>
              <p:tags r:id="rId2"/>
            </p:custDataLst>
          </p:nvPr>
        </p:nvSpPr>
        <p:spPr>
          <a:xfrm>
            <a:off x="3054350" y="1253490"/>
            <a:ext cx="8212455" cy="4521200"/>
          </a:xfrm>
          <a:prstGeom prst="rect">
            <a:avLst/>
          </a:prstGeom>
          <a:noFill/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词法分析：识别关键字、标识符、常量、运算符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语法分析：构建语法树，支持四类语句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语义分析：存在性、类型、列数检查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执行计划生成：转换为逻辑执行计划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页式存储：支持页分配、释放、读写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缓存机制：LRU/FIFO 策略，命中统计与日志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提供接口供数据库模块调用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18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执行引擎：支持 CreateTable、Insert、SeqScan、Filter、Project</a:t>
            </a:r>
            <a:endParaRPr sz="18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18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存储引擎：实现行与页的映射、磁盘组织</a:t>
            </a:r>
            <a:endParaRPr sz="18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18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系统目录：维护元数据，作为特殊表存储</a:t>
            </a:r>
            <a:endParaRPr sz="18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可以支持事务、并发控制、复杂索引、查询优化、访问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控制等高级功能。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2786380" y="158115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>
            <p:custDataLst>
              <p:tags r:id="rId3"/>
            </p:custDataLst>
          </p:nvPr>
        </p:nvSpPr>
        <p:spPr>
          <a:xfrm>
            <a:off x="2786380" y="303149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4"/>
            </p:custDataLst>
          </p:nvPr>
        </p:nvSpPr>
        <p:spPr>
          <a:xfrm>
            <a:off x="2764790" y="435483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23670" y="2047875"/>
            <a:ext cx="134112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SQL编译器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588135" y="3498850"/>
            <a:ext cx="1176655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273810" y="4803140"/>
            <a:ext cx="149098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50490" y="185420"/>
            <a:ext cx="8429625" cy="6486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090" y="492760"/>
            <a:ext cx="32073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MySQL体系架构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数据库中</a:t>
            </a:r>
            <a:r>
              <a:rPr lang="zh-CN" altLang="en-US"/>
              <a:t>的数据</a:t>
            </a:r>
            <a:r>
              <a:rPr lang="zh-CN" altLang="en-US"/>
              <a:t>存储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数据库存储通常分为两层：</a:t>
            </a:r>
            <a:endParaRPr lang="zh-CN" altLang="en-US"/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/>
              <a:t>逻辑存储结构：这是</a:t>
            </a:r>
            <a:r>
              <a:rPr lang="zh-CN" altLang="en-US" b="1">
                <a:solidFill>
                  <a:srgbClr val="C00000"/>
                </a:solidFill>
              </a:rPr>
              <a:t>程序员和用户</a:t>
            </a:r>
            <a:r>
              <a:rPr lang="zh-CN" altLang="en-US"/>
              <a:t>看到的视角，比如表、行、列、索引。</a:t>
            </a:r>
            <a:endParaRPr lang="zh-CN" altLang="en-US"/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/>
              <a:t>物理存储结构：这是数据在磁盘上</a:t>
            </a:r>
            <a:r>
              <a:rPr lang="zh-CN" altLang="en-US" b="1">
                <a:solidFill>
                  <a:srgbClr val="C00000"/>
                </a:solidFill>
              </a:rPr>
              <a:t>实际存储的格式</a:t>
            </a:r>
            <a:r>
              <a:rPr lang="zh-CN" altLang="en-US"/>
              <a:t>，比如文件、块、页、数据区。</a:t>
            </a:r>
            <a:endParaRPr lang="zh-CN" altLang="en-US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数据库管理系统（DBMS）的核心工作之一就是在逻辑结构和物理结构之间进行转换和管理。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逻辑存储结构（</a:t>
            </a:r>
            <a:r>
              <a:rPr lang="zh-CN" altLang="en-US"/>
              <a:t>用户眼中的数据库）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 (Database)： 一个容器，包含所有相关的数据对象。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 (Table)： 存储数据的主要单位，由行和列组成。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 (Row) / 记录 (Record)： 代表一个实体或一条完整的数据。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 (Column) / 字段 (Field)： 代表实体的一个属性。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 (Index)： 一种特殊的数据结构，用于快速查找数据，类似于书的目录。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物理存储结构（磁盘上的真实面貌）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9700"/>
            <a:ext cx="10861040" cy="5346700"/>
          </a:xfrm>
        </p:spPr>
        <p:txBody>
          <a:bodyPr>
            <a:noAutofit/>
          </a:bodyPr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数据最终必须存储在磁盘上（或SSD）。其基本组织单位是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页（Page） 或 块（Block）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核心概念：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 (Page)</a:t>
            </a:r>
            <a:endParaRPr lang="zh-CN" altLang="en-US" sz="1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是什么： 页是数据库磁盘I/O操作的最小单位。这意味着数据库读写数据时，不是一次只读一行，而是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一次至少读写一整个页（即使你只想要一行数据）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大小： 通常是 4KB, 8KB, 16KB 等（例如 MySQL InnoDB 默认是 16KB）。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页里面有什么： 一个页通常存储多行数据。除了数据行本身，页还包含：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页头 (Header)： 存储元信息，如页号、上一页和下一页的指针（用于连接同属一个B+树的页）、页的类型（数据页、索引页等）、剩余空间等。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行数据 (Rows)： 实际的数据记录。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槽 (Slots)： 一个指针数组，每个指针指向页内的一行数据。这使得在页内快速定位某一行成为可能。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空闲空间 (Free Space)： 页中尚未被使用的部分。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数据文件如何组织？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1175" y="1384300"/>
            <a:ext cx="11358880" cy="5309235"/>
          </a:xfrm>
        </p:spPr>
        <p:txBody>
          <a:bodyPr>
            <a:noAutofit/>
          </a:bodyPr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数据库通常会创建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一个或多个物理文件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在操作系统中（如 mydb.ibd）。这些文件被划分为多个 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区（Extent）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 (Extent)： 由多个连续的页组成（例如，InnoDB中1个区 = 64个页 = 1MB）。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一次性分配一个区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而不是单个页，可以提高空间分配效率和顺序I/O性能。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这些文件和区被用来存储不同的逻辑结构：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表数据存储：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一个表的数据可能存放在一个单独的表空间（Tablespace） 中，也可能与其他表共享一个表空间。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表空间 (Tablespace)： 一个逻辑概念，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代表一个或多个物理数据文件的集合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。它可以看作是数据库的“仓库”。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数据行被有序或无序地存储在数据页中。多个数据页通过双向链表连接起来。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一条记录是如何被写入？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lnSpcReduction="10000"/>
          </a:bodyPr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应用程序发出 INSERT 语句。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DBMS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解析SQL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，找到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目标表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要插入的数据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DBMS根据规则（如主键顺序，对于堆表则是找有空闲空间的页）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找到一个合适的数据页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来存放这条新记录。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如果该页在内存的缓冲池（Buffer Pool） 中，直接修改；如果不在，则先从磁盘加载该页到缓冲池。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将新记录写入页的空闲空间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，更新页头、槽等信息。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同时，所有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相关的索引（B+树）也需要更新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，可能会引发索引页的分裂。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此时修改只在内存中。DBMS会在合适的时机（Checkpoint）将脏页（被修改过的页）刷回磁盘，完成持久化。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一条记录是如何被读取的？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Autofit/>
          </a:bodyPr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应用程序发出 SELECT 语句。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查询优化器决定使用哪个索引最有效（或者全表扫描）。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假设使用索引（B+树）：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从根节点页开始，在内存中二分查找，找到下一层子节点页。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逐层向下，直到找到包含目标键值的叶子节点页。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如果索引是聚簇索引（如主键），那么叶子节点页就是数据页，直接从中读取整行数据即可。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如果索引是非聚簇索引，那么叶子节点页只包含主键值。DBMS需要再用这个主键值去主键索引（聚簇索引）中再查找一次，这个过程称为 回表（Bookmark Lookup）。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将找到的数据页（如果在缓冲池中找不到，则从磁盘加载）返回给应用程序。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一条</a:t>
            </a:r>
            <a:r>
              <a:rPr lang="en-US" altLang="zh-CN"/>
              <a:t>SQL</a:t>
            </a:r>
            <a:r>
              <a:rPr lang="zh-CN" altLang="en-US"/>
              <a:t>语句执行</a:t>
            </a:r>
            <a:r>
              <a:rPr lang="zh-CN" altLang="en-US"/>
              <a:t>过程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85330" y="0"/>
            <a:ext cx="499300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090" y="1539875"/>
            <a:ext cx="645795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第一阶段：连接器 (Connector)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作用：管理连接，权限认证。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第二阶段：解析器 (Parser)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作用：将SQL语句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“翻译”成数据库内部能理解的结构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（解析树）。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第三阶段：分析器/预处理器 (Analyzer / Preprocessor)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作用：解析语义，检查解析树是否有意义，检查权限。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第四阶段：优化器 (Optimizer) — 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最核心、最复杂的阶段</a:t>
            </a:r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作用：决定SQL语句的最佳执行方式。同一个查询，可以有多种执行方式（即执行计划），但效率天差地别。优化器的目标就是选择一个它认为“成本”最低的计划。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第五阶段：执行器 (Executor)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作用：根据执行计划，一步一步地调用存储引擎的接口来执行查询。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第六阶段：存储引擎 (Storage Engine)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作用：真正负责数据的存储和提取。执行器只是调用者，它并不关心数据具体存在哪里、怎么读。这些脏活累活全由存储引擎负责。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索引存储（极其重要！）：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0830"/>
            <a:ext cx="10515600" cy="4351338"/>
          </a:xfrm>
        </p:spPr>
        <p:txBody>
          <a:bodyPr>
            <a:noAutofit/>
          </a:bodyPr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绝大多数现代关系型数据库（MySQL, PostgreSQL, Oracle, SQL Server）的索引都使用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B+树 (B+ Tree)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数据结构。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B+树的特点：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树的所有叶子节点都位于同一层，包含了所有的数据（或指向数据的指针）。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叶子节点之间通过指针相连，形成了一个双向链表，非常适合范围查询。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在存储上的体现：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非叶子节点：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存储在索引页中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，它们只包含键值（索引列的值）和指向子节点的指针。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叶子节点： 对于聚簇索引（Clustered Index）（如InnoDB的主键索引），叶子节点页就是数据页，直接包含了行的所有数据。对于非聚簇索引（Secondary Index），叶子节点页只包含索引列的值和对应主键的值。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B+</a:t>
            </a:r>
            <a:r>
              <a:rPr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0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35810" y="1273175"/>
            <a:ext cx="7143750" cy="26289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941195" y="3902075"/>
            <a:ext cx="76854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树的特点：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数据只出现在叶子节点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所有叶子节点增加了一个链指针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直接遍历叶子链表，极高效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关系型数据库索引（MySQL InnoDB、Oracle）、大数据存储（HBase）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优势：范围查询、磁盘友好、更高的填充率，适合顺序扫描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数据库包含哪些文件？</a:t>
            </a:r>
            <a:r>
              <a:rPr lang="zh-CN" altLang="en-US"/>
              <a:t>如：MySQL (InnoDB)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0830"/>
            <a:ext cx="10515600" cy="4892675"/>
          </a:xfrm>
        </p:spPr>
        <p:txBody>
          <a:bodyPr>
            <a:noAutofit/>
          </a:bodyPr>
          <a:p>
            <a:pPr marL="0" lvl="1">
              <a:buFont typeface="+mj-lt"/>
              <a:buAutoNum type="arabicPeriod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数据文件 (Data Files)（</a:t>
            </a: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MySQL InnoDB</a:t>
            </a: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ibdata1: 默认的系统表空间文件，存储数据字典、undo日志、Change Buffer等元信息，有时也存储表数据。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表名.ibd: 当启用 innodb_file_per_table 后，每张InnoDB表都会有一个独立的表空间文件，存储该表的数据和索引。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+mj-lt"/>
              <a:buAutoNum type="arabicPeriod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日志文件 (Log Files)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重做日志 (Redo Log): ib_logfile0, ib_logfile1。这两个文件循环写入。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撤销日志 (Undo Log): 事务回滚、MVCC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+mj-lt"/>
              <a:buAutoNum type="arabicPeriod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控制文件 (Control File)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作用：存储数据库的物理结构信息和状态，相当于数据库的“元元数据”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重要性：极其关键。如果控制文件损坏或丢失，数据库将很难启动。因此，通常需要多路复用（多个副本）。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+mj-lt"/>
              <a:buAutoNum type="arabicPeriod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配置文件 (Configuration Files)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作用：存储数据库启动参数和运行选项，如内存分配、缓存大小、日志设置等。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"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MySQL: my.cnf (Linux) 或 my.ini (Windows)</a:t>
            </a:r>
            <a:endParaRPr lang="zh-CN" altLang="en-US" sz="17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元数据如何</a:t>
            </a:r>
            <a:r>
              <a:rPr lang="zh-CN" altLang="en-US"/>
              <a:t>存储？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90000"/>
          </a:bodyPr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在关系型数据库中，元数据本身也是以“表”的形式存在和管理的。这些特殊的表被称为系统表或数据字典表。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当你执行 SHOW TABLES; 或查询 INFORMATION_SCHEMA 时，数据库引擎实际上就是在查询这些系统表。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这些系统表存储了关于所有用户表、列、索引、权限、存储过程等所有对象的定义信息。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 的元数据主要存储在系统表空间和一个特殊的 mysql 系统数据库中。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ibdata1 文件 (系统表空间)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mysql.ibd 文件 (MySQL 8.0+)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数据目录/ 下的其它文件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数据库的存储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数据最终存储在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固定大小的页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表和数据通过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一个或多个文件（表空间）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来管理。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索引几乎总是B+树结构，它本身也由页构成，极大地加速了查询速度。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缓冲池（内存）是协调高速CPU和低速磁盘之间速度差异的关键组件，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绝大部分操作都在内存中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逻辑上的“行”被数据库引擎巧妙地映射、拆分、组合到物理上的“页”中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，并通过复杂的算法（如B+树、LRU缓存淘汰）来保证数据的一致性、持久性和高性能的访问。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99480" y="0"/>
            <a:ext cx="579056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8045" y="1677670"/>
            <a:ext cx="79851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分阶段实现：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先实现SQL编译器（词法分析、语法分析、语义分析）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然后实现存储系统（页式存储、缓存管理）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最后实现数据库引擎（执行器、存储引擎）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1545" y="290195"/>
            <a:ext cx="5878195" cy="736600"/>
          </a:xfrm>
        </p:spPr>
        <p:txBody>
          <a:bodyPr/>
          <a:p>
            <a:pPr>
              <a:defRPr sz="3600" b="1">
                <a:solidFill>
                  <a:srgbClr val="2F5597"/>
                </a:solidFill>
              </a:defRPr>
            </a:pPr>
            <a:r>
              <a:rPr lang="zh-CN"/>
              <a:t>简化版</a:t>
            </a:r>
            <a:r>
              <a:t>数据库系统实现</a:t>
            </a:r>
          </a:p>
        </p:txBody>
      </p:sp>
      <p:sp>
        <p:nvSpPr>
          <p:cNvPr id="6" name="TextBox 2"/>
          <p:cNvSpPr txBox="1"/>
          <p:nvPr>
            <p:custDataLst>
              <p:tags r:id="rId2"/>
            </p:custDataLst>
          </p:nvPr>
        </p:nvSpPr>
        <p:spPr>
          <a:xfrm>
            <a:off x="3054350" y="1253490"/>
            <a:ext cx="8212455" cy="4521200"/>
          </a:xfrm>
          <a:prstGeom prst="rect">
            <a:avLst/>
          </a:prstGeom>
          <a:noFill/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词法分析：识别关键字、标识符、常量、运算符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语法分析：构建语法树，支持四类语句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语义分析：存在性、类型、列数检查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执行计划生成：转换为逻辑执行计划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页式存储：支持页分配、释放、读写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缓存机制：LRU/FIFO 策略，命中统计与日志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提供接口供数据库模块调用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执行引擎：支持 CreateTable、Insert、SeqScan、Filter、Project</a:t>
            </a:r>
            <a:endParaRPr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存储引擎：实现行与页的映射、磁盘组织</a:t>
            </a:r>
            <a:endParaRPr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系统目录：维护元数据，作为特殊表存储</a:t>
            </a:r>
            <a:endParaRPr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可以支持事务、并发控制、复杂索引、查询优化、访问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控制等高级功能。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2786380" y="158115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>
            <p:custDataLst>
              <p:tags r:id="rId3"/>
            </p:custDataLst>
          </p:nvPr>
        </p:nvSpPr>
        <p:spPr>
          <a:xfrm>
            <a:off x="2786380" y="303149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4"/>
            </p:custDataLst>
          </p:nvPr>
        </p:nvSpPr>
        <p:spPr>
          <a:xfrm>
            <a:off x="2764790" y="4354830"/>
            <a:ext cx="289560" cy="1247775"/>
          </a:xfrm>
          <a:prstGeom prst="leftBrace">
            <a:avLst>
              <a:gd name="adj1" fmla="val 8333"/>
              <a:gd name="adj2" fmla="val 5206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23670" y="2047875"/>
            <a:ext cx="134112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SQL编译器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588135" y="3498850"/>
            <a:ext cx="1176655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273810" y="4803140"/>
            <a:ext cx="149098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8000" y="59055"/>
            <a:ext cx="609600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database_system/</a:t>
            </a:r>
            <a:endParaRPr lang="zh-CN" altLang="en-US"/>
          </a:p>
          <a:p>
            <a:r>
              <a:rPr lang="zh-CN" altLang="en-US"/>
              <a:t>├── sql_compiler/          # SQL编译器模块</a:t>
            </a:r>
            <a:endParaRPr lang="zh-CN" altLang="en-US"/>
          </a:p>
          <a:p>
            <a:r>
              <a:rPr lang="zh-CN" altLang="en-US"/>
              <a:t>│   ├── lexer.py          # 词法分析器</a:t>
            </a:r>
            <a:endParaRPr lang="zh-CN" altLang="en-US"/>
          </a:p>
          <a:p>
            <a:r>
              <a:rPr lang="zh-CN" altLang="en-US"/>
              <a:t>│   ├── parser.py         # 语法分析器</a:t>
            </a:r>
            <a:endParaRPr lang="zh-CN" altLang="en-US"/>
          </a:p>
          <a:p>
            <a:r>
              <a:rPr lang="zh-CN" altLang="en-US"/>
              <a:t>│   ├── semantic.py       # 语义分析器</a:t>
            </a:r>
            <a:endParaRPr lang="zh-CN" altLang="en-US"/>
          </a:p>
          <a:p>
            <a:r>
              <a:rPr lang="zh-CN" altLang="en-US"/>
              <a:t>│   ├── planner.py        # 执行计划生成器</a:t>
            </a:r>
            <a:endParaRPr lang="zh-CN" altLang="en-US"/>
          </a:p>
          <a:p>
            <a:r>
              <a:rPr lang="zh-CN" altLang="en-US"/>
              <a:t>│   └── catalog.py        # 模式目录管理</a:t>
            </a:r>
            <a:endParaRPr lang="zh-CN" altLang="en-US"/>
          </a:p>
          <a:p>
            <a:r>
              <a:rPr lang="zh-CN" altLang="en-US"/>
              <a:t>├── storage/              # 存储系统模块</a:t>
            </a:r>
            <a:endParaRPr lang="zh-CN" altLang="en-US"/>
          </a:p>
          <a:p>
            <a:r>
              <a:rPr lang="zh-CN" altLang="en-US"/>
              <a:t>│   ├── page.py          # 页式存储实现</a:t>
            </a:r>
            <a:endParaRPr lang="zh-CN" altLang="en-US"/>
          </a:p>
          <a:p>
            <a:r>
              <a:rPr lang="zh-CN" altLang="en-US"/>
              <a:t>│   ├── buffer.py        # 缓存管理实现</a:t>
            </a:r>
            <a:endParaRPr lang="zh-CN" altLang="en-US"/>
          </a:p>
          <a:p>
            <a:r>
              <a:rPr lang="zh-CN" altLang="en-US"/>
              <a:t>│   └── file_manager.py  # 文件管理</a:t>
            </a:r>
            <a:endParaRPr lang="zh-CN" altLang="en-US"/>
          </a:p>
          <a:p>
            <a:r>
              <a:rPr lang="zh-CN" altLang="en-US"/>
              <a:t>├── engine/              # 数据库引擎模块</a:t>
            </a:r>
            <a:endParaRPr lang="zh-CN" altLang="en-US"/>
          </a:p>
          <a:p>
            <a:r>
              <a:rPr lang="zh-CN" altLang="en-US"/>
              <a:t>│   ├── executor.py      # 执行引擎</a:t>
            </a:r>
            <a:endParaRPr lang="zh-CN" altLang="en-US"/>
          </a:p>
          <a:p>
            <a:r>
              <a:rPr lang="zh-CN" altLang="en-US"/>
              <a:t>│   ├── storage_engine.py # 存储引擎</a:t>
            </a:r>
            <a:endParaRPr lang="zh-CN" altLang="en-US"/>
          </a:p>
          <a:p>
            <a:r>
              <a:rPr lang="zh-CN" altLang="en-US"/>
              <a:t>│   └── catalog_manager.py # 系统目录管理</a:t>
            </a:r>
            <a:endParaRPr lang="zh-CN" altLang="en-US"/>
          </a:p>
          <a:p>
            <a:r>
              <a:rPr lang="zh-CN" altLang="en-US"/>
              <a:t>├── cli/                 # 命令行接口</a:t>
            </a:r>
            <a:endParaRPr lang="zh-CN" altLang="en-US"/>
          </a:p>
          <a:p>
            <a:r>
              <a:rPr lang="zh-CN" altLang="en-US"/>
              <a:t>│   └── main.py          # 主程序入口</a:t>
            </a:r>
            <a:endParaRPr lang="zh-CN" altLang="en-US"/>
          </a:p>
          <a:p>
            <a:r>
              <a:rPr lang="zh-CN" altLang="en-US"/>
              <a:t>├── tests/               # 测试文件</a:t>
            </a:r>
            <a:endParaRPr lang="zh-CN" altLang="en-US"/>
          </a:p>
          <a:p>
            <a:r>
              <a:rPr lang="zh-CN" altLang="en-US"/>
              <a:t>│   ├── test_sql.py      # SQL编译器测试</a:t>
            </a:r>
            <a:endParaRPr lang="zh-CN" altLang="en-US"/>
          </a:p>
          <a:p>
            <a:r>
              <a:rPr lang="zh-CN" altLang="en-US"/>
              <a:t>│   ├── test_storage.py  # 存储系统测试</a:t>
            </a:r>
            <a:endParaRPr lang="zh-CN" altLang="en-US"/>
          </a:p>
          <a:p>
            <a:r>
              <a:rPr lang="zh-CN" altLang="en-US"/>
              <a:t>│   └── test_db.py       # 数据库系统测试</a:t>
            </a:r>
            <a:endParaRPr lang="zh-CN" altLang="en-US"/>
          </a:p>
          <a:p>
            <a:r>
              <a:rPr lang="zh-CN" altLang="en-US"/>
              <a:t>└── utils/               # 工具函数</a:t>
            </a:r>
            <a:endParaRPr lang="zh-CN" altLang="en-US"/>
          </a:p>
          <a:p>
            <a:r>
              <a:rPr lang="zh-CN" altLang="en-US"/>
              <a:t>    ├── constants.py     # 常量定义</a:t>
            </a:r>
            <a:endParaRPr lang="zh-CN" altLang="en-US"/>
          </a:p>
          <a:p>
            <a:r>
              <a:rPr lang="zh-CN" altLang="en-US"/>
              <a:t>    └── helpers.py       # 辅助函数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7990" y="553085"/>
            <a:ext cx="2235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项目结构建议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05605" y="12065"/>
            <a:ext cx="7667625" cy="67392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200"/>
              <a:t># main.py - 一个极简的DBMS CLI</a:t>
            </a:r>
            <a:endParaRPr lang="zh-CN" altLang="en-US" sz="1200"/>
          </a:p>
          <a:p>
            <a:r>
              <a:rPr lang="zh-CN" altLang="en-US" sz="1200"/>
              <a:t>from storage_engine import StorageEngine</a:t>
            </a:r>
            <a:endParaRPr lang="zh-CN" altLang="en-US" sz="1200"/>
          </a:p>
          <a:p>
            <a:r>
              <a:rPr lang="zh-CN" altLang="en-US" sz="1200"/>
              <a:t>from parser import SQLParser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class SimpleDBMS:</a:t>
            </a:r>
            <a:endParaRPr lang="zh-CN" altLang="en-US" sz="1200"/>
          </a:p>
          <a:p>
            <a:r>
              <a:rPr lang="zh-CN" altLang="en-US" sz="1200"/>
              <a:t>    def __init__(self):</a:t>
            </a:r>
            <a:endParaRPr lang="zh-CN" altLang="en-US" sz="1200"/>
          </a:p>
          <a:p>
            <a:r>
              <a:rPr lang="zh-CN" altLang="en-US" sz="1200"/>
              <a:t>        self.storage = StorageEngine()</a:t>
            </a:r>
            <a:endParaRPr lang="zh-CN" altLang="en-US" sz="1200"/>
          </a:p>
          <a:p>
            <a:r>
              <a:rPr lang="zh-CN" altLang="en-US" sz="1200"/>
              <a:t>        self.parser = SQLParser()</a:t>
            </a:r>
            <a:endParaRPr lang="zh-CN" altLang="en-US" sz="1200"/>
          </a:p>
          <a:p>
            <a:r>
              <a:rPr lang="zh-CN" altLang="en-US" sz="1200"/>
              <a:t>        </a:t>
            </a:r>
            <a:endParaRPr lang="zh-CN" altLang="en-US" sz="1200"/>
          </a:p>
          <a:p>
            <a:r>
              <a:rPr lang="zh-CN" altLang="en-US" sz="1200"/>
              <a:t>    def execute(self, sql_text):</a:t>
            </a:r>
            <a:endParaRPr lang="zh-CN" altLang="en-US" sz="1200"/>
          </a:p>
          <a:p>
            <a:r>
              <a:rPr lang="zh-CN" altLang="en-US" sz="1200"/>
              <a:t>        # 1. 解析SQL</a:t>
            </a:r>
            <a:endParaRPr lang="zh-CN" altLang="en-US" sz="1200"/>
          </a:p>
          <a:p>
            <a:r>
              <a:rPr lang="zh-CN" altLang="en-US" sz="1200"/>
              <a:t>        ast = self.parser.parse(sql_text)</a:t>
            </a:r>
            <a:endParaRPr lang="zh-CN" altLang="en-US" sz="1200"/>
          </a:p>
          <a:p>
            <a:r>
              <a:rPr lang="zh-CN" altLang="en-US" sz="1200"/>
              <a:t>        </a:t>
            </a:r>
            <a:endParaRPr lang="zh-CN" altLang="en-US" sz="1200"/>
          </a:p>
          <a:p>
            <a:r>
              <a:rPr lang="zh-CN" altLang="en-US" sz="1200"/>
              <a:t>        # 2. 这里应该是优化器（本例省略）</a:t>
            </a:r>
            <a:endParaRPr lang="zh-CN" altLang="en-US" sz="1200"/>
          </a:p>
          <a:p>
            <a:r>
              <a:rPr lang="zh-CN" altLang="en-US" sz="1200"/>
              <a:t>        </a:t>
            </a:r>
            <a:endParaRPr lang="zh-CN" altLang="en-US" sz="1200"/>
          </a:p>
          <a:p>
            <a:r>
              <a:rPr lang="zh-CN" altLang="en-US" sz="1200"/>
              <a:t>        # 3. 执行器根据AST类型调用存储引擎的不同方法</a:t>
            </a:r>
            <a:endParaRPr lang="zh-CN" altLang="en-US" sz="1200"/>
          </a:p>
          <a:p>
            <a:r>
              <a:rPr lang="zh-CN" altLang="en-US" sz="1200"/>
              <a:t>        if ast['type'] == 'create_table':</a:t>
            </a:r>
            <a:endParaRPr lang="zh-CN" altLang="en-US" sz="1200"/>
          </a:p>
          <a:p>
            <a:r>
              <a:rPr lang="zh-CN" altLang="en-US" sz="1200"/>
              <a:t>            return self.storage.create_table(ast['table_name'], ast['columns'])</a:t>
            </a:r>
            <a:endParaRPr lang="zh-CN" altLang="en-US" sz="1200"/>
          </a:p>
          <a:p>
            <a:r>
              <a:rPr lang="zh-CN" altLang="en-US" sz="1200"/>
              <a:t>        elif ast['type'] == 'insert':</a:t>
            </a:r>
            <a:endParaRPr lang="zh-CN" altLang="en-US" sz="1200"/>
          </a:p>
          <a:p>
            <a:r>
              <a:rPr lang="zh-CN" altLang="en-US" sz="1200"/>
              <a:t>            return self.storage.insert(ast['table_name'], ast['values'])</a:t>
            </a:r>
            <a:endParaRPr lang="zh-CN" altLang="en-US" sz="1200"/>
          </a:p>
          <a:p>
            <a:r>
              <a:rPr lang="zh-CN" altLang="en-US" sz="1200"/>
              <a:t>        elif ast['type'] == 'select':</a:t>
            </a:r>
            <a:endParaRPr lang="zh-CN" altLang="en-US" sz="1200"/>
          </a:p>
          <a:p>
            <a:r>
              <a:rPr lang="zh-CN" altLang="en-US" sz="1200"/>
              <a:t>            # 假设优化器选择全表扫描</a:t>
            </a:r>
            <a:endParaRPr lang="zh-CN" altLang="en-US" sz="1200"/>
          </a:p>
          <a:p>
            <a:r>
              <a:rPr lang="zh-CN" altLang="en-US" sz="1200"/>
              <a:t>            return self.storage.full_table_scan(ast['table_name'], ast['where'])</a:t>
            </a:r>
            <a:endParaRPr lang="zh-CN" altLang="en-US" sz="1200"/>
          </a:p>
          <a:p>
            <a:r>
              <a:rPr lang="zh-CN" altLang="en-US" sz="1200"/>
              <a:t>        else:</a:t>
            </a:r>
            <a:endParaRPr lang="zh-CN" altLang="en-US" sz="1200"/>
          </a:p>
          <a:p>
            <a:r>
              <a:rPr lang="zh-CN" altLang="en-US" sz="1200"/>
              <a:t>            raise Exception(f"Unsupported SQL type: {ast['type']}")</a:t>
            </a:r>
            <a:endParaRPr lang="zh-CN" altLang="en-US" sz="1200"/>
          </a:p>
          <a:p>
            <a:r>
              <a:rPr lang="zh-CN" altLang="en-US" sz="1200"/>
              <a:t>if __name__ == '__main__':</a:t>
            </a:r>
            <a:endParaRPr lang="zh-CN" altLang="en-US" sz="1200"/>
          </a:p>
          <a:p>
            <a:r>
              <a:rPr lang="zh-CN" altLang="en-US" sz="1200"/>
              <a:t>    db = SimpleDBMS()</a:t>
            </a:r>
            <a:endParaRPr lang="zh-CN" altLang="en-US" sz="1200"/>
          </a:p>
          <a:p>
            <a:r>
              <a:rPr lang="zh-CN" altLang="en-US" sz="1200"/>
              <a:t>    while True:</a:t>
            </a:r>
            <a:endParaRPr lang="zh-CN" altLang="en-US" sz="1200"/>
          </a:p>
          <a:p>
            <a:r>
              <a:rPr lang="zh-CN" altLang="en-US" sz="1200"/>
              <a:t>        try:</a:t>
            </a:r>
            <a:endParaRPr lang="zh-CN" altLang="en-US" sz="1200"/>
          </a:p>
          <a:p>
            <a:r>
              <a:rPr lang="zh-CN" altLang="en-US" sz="1200"/>
              <a:t>            sql = input("MiniDB &gt; ")</a:t>
            </a:r>
            <a:endParaRPr lang="zh-CN" altLang="en-US" sz="1200"/>
          </a:p>
          <a:p>
            <a:r>
              <a:rPr lang="zh-CN" altLang="en-US" sz="1200"/>
              <a:t>            if sql.lower() == 'quit':</a:t>
            </a:r>
            <a:endParaRPr lang="zh-CN" altLang="en-US" sz="1200"/>
          </a:p>
          <a:p>
            <a:r>
              <a:rPr lang="zh-CN" altLang="en-US" sz="1200"/>
              <a:t>                break</a:t>
            </a:r>
            <a:endParaRPr lang="zh-CN" altLang="en-US" sz="1200"/>
          </a:p>
          <a:p>
            <a:r>
              <a:rPr lang="zh-CN" altLang="en-US" sz="1200"/>
              <a:t>            result = db.execute(sql)</a:t>
            </a:r>
            <a:endParaRPr lang="zh-CN" altLang="en-US" sz="1200"/>
          </a:p>
          <a:p>
            <a:r>
              <a:rPr lang="zh-CN" altLang="en-US" sz="1200"/>
              <a:t>            print(result)</a:t>
            </a:r>
            <a:endParaRPr lang="zh-CN" altLang="en-US" sz="1200"/>
          </a:p>
          <a:p>
            <a:r>
              <a:rPr lang="zh-CN" altLang="en-US" sz="1200"/>
              <a:t>        except Exception as e:</a:t>
            </a:r>
            <a:endParaRPr lang="zh-CN" altLang="en-US" sz="1200"/>
          </a:p>
          <a:p>
            <a:r>
              <a:rPr lang="zh-CN" altLang="en-US" sz="1200"/>
              <a:t>            print(f"Error: {e}")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816610" y="2340610"/>
            <a:ext cx="2250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示例代码框架</a:t>
            </a:r>
            <a:endParaRPr lang="zh-CN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17905" y="2968625"/>
            <a:ext cx="2250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示例代码框架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220210" y="259715"/>
            <a:ext cx="6096000" cy="63392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400"/>
              <a:t># storage_engine.py - 存储引擎雏形</a:t>
            </a:r>
            <a:endParaRPr lang="zh-CN" altLang="en-US" sz="1400"/>
          </a:p>
          <a:p>
            <a:r>
              <a:rPr lang="zh-CN" altLang="en-US" sz="1400"/>
              <a:t>import struct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class StorageEngine:</a:t>
            </a:r>
            <a:endParaRPr lang="zh-CN" altLang="en-US" sz="1400"/>
          </a:p>
          <a:p>
            <a:r>
              <a:rPr lang="zh-CN" altLang="en-US" sz="1400"/>
              <a:t>    def __init__(self, data_dir='data/'):</a:t>
            </a:r>
            <a:endParaRPr lang="zh-CN" altLang="en-US" sz="1400"/>
          </a:p>
          <a:p>
            <a:r>
              <a:rPr lang="zh-CN" altLang="en-US" sz="1400"/>
              <a:t>        self.data_dir = data_dir</a:t>
            </a:r>
            <a:endParaRPr lang="zh-CN" altLang="en-US" sz="1400"/>
          </a:p>
          <a:p>
            <a:r>
              <a:rPr lang="zh-CN" altLang="en-US" sz="1400"/>
              <a:t>        self.tables_meta = {} # 缓存表结构</a:t>
            </a:r>
            <a:endParaRPr lang="zh-CN" altLang="en-US" sz="1400"/>
          </a:p>
          <a:p>
            <a:r>
              <a:rPr lang="zh-CN" altLang="en-US" sz="1400"/>
              <a:t>        self.buffer_pool = {} # 缓冲区</a:t>
            </a:r>
            <a:endParaRPr lang="zh-CN" altLang="en-US" sz="1400"/>
          </a:p>
          <a:p>
            <a:r>
              <a:rPr lang="zh-CN" altLang="en-US" sz="1400"/>
              <a:t>        </a:t>
            </a:r>
            <a:endParaRPr lang="zh-CN" altLang="en-US" sz="1400"/>
          </a:p>
          <a:p>
            <a:r>
              <a:rPr lang="zh-CN" altLang="en-US" sz="1400"/>
              <a:t>    def create_table(self, name, columns):</a:t>
            </a:r>
            <a:endParaRPr lang="zh-CN" altLang="en-US" sz="1400"/>
          </a:p>
          <a:p>
            <a:r>
              <a:rPr lang="zh-CN" altLang="en-US" sz="1400"/>
              <a:t>        # 1. 创建表结构文件 .frm</a:t>
            </a:r>
            <a:endParaRPr lang="zh-CN" altLang="en-US" sz="1400"/>
          </a:p>
          <a:p>
            <a:r>
              <a:rPr lang="zh-CN" altLang="en-US" sz="1400"/>
              <a:t>        # 2. 创建空的数据文件 .dat</a:t>
            </a:r>
            <a:endParaRPr lang="zh-CN" altLang="en-US" sz="1400"/>
          </a:p>
          <a:p>
            <a:r>
              <a:rPr lang="zh-CN" altLang="en-US" sz="1400"/>
              <a:t>        print(f"Creating table {name} with columns {columns}")</a:t>
            </a:r>
            <a:endParaRPr lang="zh-CN" altLang="en-US" sz="1400"/>
          </a:p>
          <a:p>
            <a:r>
              <a:rPr lang="zh-CN" altLang="en-US" sz="1400"/>
              <a:t>        return "OK"</a:t>
            </a:r>
            <a:endParaRPr lang="zh-CN" altLang="en-US" sz="1400"/>
          </a:p>
          <a:p>
            <a:r>
              <a:rPr lang="zh-CN" altLang="en-US" sz="1400"/>
              <a:t>    </a:t>
            </a:r>
            <a:endParaRPr lang="zh-CN" altLang="en-US" sz="1400"/>
          </a:p>
          <a:p>
            <a:r>
              <a:rPr lang="zh-CN" altLang="en-US" sz="1400"/>
              <a:t>    def insert(self, table_name, values):</a:t>
            </a:r>
            <a:endParaRPr lang="zh-CN" altLang="en-US" sz="1400"/>
          </a:p>
          <a:p>
            <a:r>
              <a:rPr lang="zh-CN" altLang="en-US" sz="1400"/>
              <a:t>        # 1. 找到表对应的数据文件</a:t>
            </a:r>
            <a:endParaRPr lang="zh-CN" altLang="en-US" sz="1400"/>
          </a:p>
          <a:p>
            <a:r>
              <a:rPr lang="zh-CN" altLang="en-US" sz="1400"/>
              <a:t>        # 2. 将一行数据序列化为字节（例如，用struct.pack）</a:t>
            </a:r>
            <a:endParaRPr lang="zh-CN" altLang="en-US" sz="1400"/>
          </a:p>
          <a:p>
            <a:r>
              <a:rPr lang="zh-CN" altLang="en-US" sz="1400"/>
              <a:t>        # 3. 追加写入到文件末尾（或找到空闲页）</a:t>
            </a:r>
            <a:endParaRPr lang="zh-CN" altLang="en-US" sz="1400"/>
          </a:p>
          <a:p>
            <a:r>
              <a:rPr lang="zh-CN" altLang="en-US" sz="1400"/>
              <a:t>        print(f"Inserting into {table_name}: {values}")</a:t>
            </a:r>
            <a:endParaRPr lang="zh-CN" altLang="en-US" sz="1400"/>
          </a:p>
          <a:p>
            <a:r>
              <a:rPr lang="zh-CN" altLang="en-US" sz="1400"/>
              <a:t>        return "1 row inserted"</a:t>
            </a:r>
            <a:endParaRPr lang="zh-CN" altLang="en-US" sz="1400"/>
          </a:p>
          <a:p>
            <a:r>
              <a:rPr lang="zh-CN" altLang="en-US" sz="1400"/>
              <a:t>        </a:t>
            </a:r>
            <a:endParaRPr lang="zh-CN" altLang="en-US" sz="1400"/>
          </a:p>
          <a:p>
            <a:r>
              <a:rPr lang="zh-CN" altLang="en-US" sz="1400"/>
              <a:t>    def full_table_scan(self, table_name, where_clause):</a:t>
            </a:r>
            <a:endParaRPr lang="zh-CN" altLang="en-US" sz="1400"/>
          </a:p>
          <a:p>
            <a:r>
              <a:rPr lang="zh-CN" altLang="en-US" sz="1400"/>
              <a:t>        # 1. 打开数据文件</a:t>
            </a:r>
            <a:endParaRPr lang="zh-CN" altLang="en-US" sz="1400"/>
          </a:p>
          <a:p>
            <a:r>
              <a:rPr lang="zh-CN" altLang="en-US" sz="1400"/>
              <a:t>        # 2. 逐页/逐行读取数据</a:t>
            </a:r>
            <a:endParaRPr lang="zh-CN" altLang="en-US" sz="1400"/>
          </a:p>
          <a:p>
            <a:r>
              <a:rPr lang="zh-CN" altLang="en-US" sz="1400"/>
              <a:t>        # 3. 应用where条件过滤</a:t>
            </a:r>
            <a:endParaRPr lang="zh-CN" altLang="en-US" sz="1400"/>
          </a:p>
          <a:p>
            <a:r>
              <a:rPr lang="zh-CN" altLang="en-US" sz="1400"/>
              <a:t>        # 4. 返回结果</a:t>
            </a:r>
            <a:endParaRPr lang="zh-CN" altLang="en-US" sz="1400"/>
          </a:p>
          <a:p>
            <a:r>
              <a:rPr lang="zh-CN" altLang="en-US" sz="1400"/>
              <a:t>        print(f"Scanning table {table_name} where {where_clause}")</a:t>
            </a:r>
            <a:endParaRPr lang="zh-CN" altLang="en-US" sz="1400"/>
          </a:p>
          <a:p>
            <a:r>
              <a:rPr lang="zh-CN" altLang="en-US" sz="1400"/>
              <a:t>        return [["dummy_row_id", "dummy_value_1", "dummy_value_2"]]</a:t>
            </a:r>
            <a:endParaRPr lang="zh-CN" altLang="en-US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6819</Words>
  <Application>WPS 演示</Application>
  <PresentationFormat>宽屏</PresentationFormat>
  <Paragraphs>286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楷体</vt:lpstr>
      <vt:lpstr>Times New Roman</vt:lpstr>
      <vt:lpstr>微软雅黑</vt:lpstr>
      <vt:lpstr>Wingdings</vt:lpstr>
      <vt:lpstr>Arial Unicode MS</vt:lpstr>
      <vt:lpstr>等线 Light</vt:lpstr>
      <vt:lpstr>汉仪中等线KW</vt:lpstr>
      <vt:lpstr>等线</vt:lpstr>
      <vt:lpstr>Calibri</vt:lpstr>
      <vt:lpstr>黑体</vt:lpstr>
      <vt:lpstr>Office 主题​​</vt:lpstr>
      <vt:lpstr>1_Office 主题​​</vt:lpstr>
      <vt:lpstr>《大型平台软件设计实习》</vt:lpstr>
      <vt:lpstr>数据库管理系统设计与实现</vt:lpstr>
      <vt:lpstr>PowerPoint 演示文稿</vt:lpstr>
      <vt:lpstr>数据库中的数据存储</vt:lpstr>
      <vt:lpstr>逻辑存储结构（用户眼中的数据库）</vt:lpstr>
      <vt:lpstr>物理存储结构（磁盘上的真实面貌）</vt:lpstr>
      <vt:lpstr>数据文件如何组织？</vt:lpstr>
      <vt:lpstr>一条记录是如何被写入？</vt:lpstr>
      <vt:lpstr>一条记录是如何被读取的？</vt:lpstr>
      <vt:lpstr>一条SQL语句执行过程</vt:lpstr>
      <vt:lpstr>索引存储（极其重要！）：</vt:lpstr>
      <vt:lpstr>B+树</vt:lpstr>
      <vt:lpstr>数据库包含哪些文件？如：MySQL (InnoDB) </vt:lpstr>
      <vt:lpstr>元数据如何存储？</vt:lpstr>
      <vt:lpstr>数据库的存储总结</vt:lpstr>
      <vt:lpstr>PowerPoint 演示文稿</vt:lpstr>
      <vt:lpstr>简化版数据库系统实现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词法分析</dc:title>
  <dc:creator>Xin YAO</dc:creator>
  <cp:lastModifiedBy>邓磊</cp:lastModifiedBy>
  <cp:revision>291</cp:revision>
  <dcterms:created xsi:type="dcterms:W3CDTF">2026-09-07T10:25:04Z</dcterms:created>
  <dcterms:modified xsi:type="dcterms:W3CDTF">2026-09-07T10:25:04Z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A15E9CD324DCCF493B5A9E6AF4BBD20C_43</vt:lpwstr>
  </property>
  <property fmtid="{D5CDD505-2E9C-101B-9397-08002B2CF9AE}" pid="3" name="KSOProductBuildVer">
    <vt:lpwstr>2052-6.7.1.8828</vt:lpwstr>
  </property>
</Properties>
</file>